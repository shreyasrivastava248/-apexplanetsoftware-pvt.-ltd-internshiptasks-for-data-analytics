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20" r:id="rId4"/>
    <p:sldId id="321" r:id="rId5"/>
    <p:sldId id="315" r:id="rId6"/>
    <p:sldId id="311" r:id="rId7"/>
    <p:sldId id="312" r:id="rId8"/>
    <p:sldId id="314" r:id="rId9"/>
    <p:sldId id="318" r:id="rId10"/>
    <p:sldId id="317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9" autoAdjust="0"/>
  </p:normalViewPr>
  <p:slideViewPr>
    <p:cSldViewPr showGuides="1">
      <p:cViewPr varScale="1">
        <p:scale>
          <a:sx n="65" d="100"/>
          <a:sy n="65" d="100"/>
        </p:scale>
        <p:origin x="942" y="7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DE493-19D7-4EC9-97C9-5F26233F1106}" type="doc">
      <dgm:prSet loTypeId="urn:microsoft.com/office/officeart/2005/8/layout/hProcess4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986F71-3126-4196-BD30-74AEDC39A1CA}">
      <dgm:prSet phldrT="[Text]"/>
      <dgm:spPr/>
      <dgm:t>
        <a:bodyPr/>
        <a:lstStyle/>
        <a:p>
          <a:r>
            <a:rPr lang="en-US" dirty="0"/>
            <a:t>Hypothesis</a:t>
          </a:r>
        </a:p>
      </dgm:t>
    </dgm:pt>
    <dgm:pt modelId="{9B3CE34A-9B3E-4D5F-94E0-DFBB94FF5A03}" type="parTrans" cxnId="{1423FC72-83C7-4510-8021-28EAEA493E68}">
      <dgm:prSet/>
      <dgm:spPr/>
      <dgm:t>
        <a:bodyPr/>
        <a:lstStyle/>
        <a:p>
          <a:endParaRPr lang="en-US"/>
        </a:p>
      </dgm:t>
    </dgm:pt>
    <dgm:pt modelId="{D0B150DF-3AA4-454C-8652-25880449C422}" type="sibTrans" cxnId="{1423FC72-83C7-4510-8021-28EAEA493E68}">
      <dgm:prSet/>
      <dgm:spPr/>
      <dgm:t>
        <a:bodyPr/>
        <a:lstStyle/>
        <a:p>
          <a:endParaRPr lang="en-US"/>
        </a:p>
      </dgm:t>
    </dgm:pt>
    <dgm:pt modelId="{AB2E8498-CC81-452F-A895-08F3845AA347}">
      <dgm:prSet phldrT="[Text]"/>
      <dgm:spPr/>
      <dgm:t>
        <a:bodyPr/>
        <a:lstStyle/>
        <a:p>
          <a:r>
            <a:rPr lang="en-US" dirty="0"/>
            <a:t>Providing discount increases sales</a:t>
          </a:r>
        </a:p>
      </dgm:t>
    </dgm:pt>
    <dgm:pt modelId="{4C65E2C8-0CBB-4D8C-AD60-6B0105C62B84}" type="parTrans" cxnId="{2D5B3E3B-3EE5-4072-933E-27DF5400591C}">
      <dgm:prSet/>
      <dgm:spPr/>
      <dgm:t>
        <a:bodyPr/>
        <a:lstStyle/>
        <a:p>
          <a:endParaRPr lang="en-US"/>
        </a:p>
      </dgm:t>
    </dgm:pt>
    <dgm:pt modelId="{9A1F3304-AA9E-4FBC-89BA-9095C80E47C9}" type="sibTrans" cxnId="{2D5B3E3B-3EE5-4072-933E-27DF5400591C}">
      <dgm:prSet/>
      <dgm:spPr/>
      <dgm:t>
        <a:bodyPr/>
        <a:lstStyle/>
        <a:p>
          <a:endParaRPr lang="en-US"/>
        </a:p>
      </dgm:t>
    </dgm:pt>
    <dgm:pt modelId="{F6D27D1B-CDCB-481F-B8FA-AB31B2A119DE}">
      <dgm:prSet phldrT="[Text]"/>
      <dgm:spPr/>
      <dgm:t>
        <a:bodyPr/>
        <a:lstStyle/>
        <a:p>
          <a:r>
            <a:rPr lang="en-US" dirty="0"/>
            <a:t>Analysis</a:t>
          </a:r>
        </a:p>
      </dgm:t>
    </dgm:pt>
    <dgm:pt modelId="{8A7BF306-8E53-4B16-9E7E-A79AE3DF6BE2}" type="parTrans" cxnId="{A63D53AC-541A-4D09-9620-8B1C8D7B91DE}">
      <dgm:prSet/>
      <dgm:spPr/>
      <dgm:t>
        <a:bodyPr/>
        <a:lstStyle/>
        <a:p>
          <a:endParaRPr lang="en-US"/>
        </a:p>
      </dgm:t>
    </dgm:pt>
    <dgm:pt modelId="{7AEB6639-3258-49E8-8B1F-B4A9C61922BE}" type="sibTrans" cxnId="{A63D53AC-541A-4D09-9620-8B1C8D7B91DE}">
      <dgm:prSet/>
      <dgm:spPr/>
      <dgm:t>
        <a:bodyPr/>
        <a:lstStyle/>
        <a:p>
          <a:endParaRPr lang="en-US"/>
        </a:p>
      </dgm:t>
    </dgm:pt>
    <dgm:pt modelId="{0B00F5A8-A0EF-4111-9D86-004317B4F49E}">
      <dgm:prSet phldrT="[Text]"/>
      <dgm:spPr/>
      <dgm:t>
        <a:bodyPr/>
        <a:lstStyle/>
        <a:p>
          <a:r>
            <a:rPr lang="en-US" dirty="0"/>
            <a:t>Discount and sales relationship  analyzed</a:t>
          </a:r>
        </a:p>
      </dgm:t>
    </dgm:pt>
    <dgm:pt modelId="{EC916B99-8D26-4265-B7BE-BB461C68DA5C}" type="parTrans" cxnId="{86F910E7-C9D0-48E5-A3A3-C70127E96FC1}">
      <dgm:prSet/>
      <dgm:spPr/>
      <dgm:t>
        <a:bodyPr/>
        <a:lstStyle/>
        <a:p>
          <a:endParaRPr lang="en-US"/>
        </a:p>
      </dgm:t>
    </dgm:pt>
    <dgm:pt modelId="{CE48C676-980A-4BAC-A3C8-9ABC315DAE51}" type="sibTrans" cxnId="{86F910E7-C9D0-48E5-A3A3-C70127E96FC1}">
      <dgm:prSet/>
      <dgm:spPr/>
      <dgm:t>
        <a:bodyPr/>
        <a:lstStyle/>
        <a:p>
          <a:endParaRPr lang="en-US"/>
        </a:p>
      </dgm:t>
    </dgm:pt>
    <dgm:pt modelId="{58828492-5CEF-4AFE-95CB-5D7E6A18158B}">
      <dgm:prSet phldrT="[Text]"/>
      <dgm:spPr/>
      <dgm:t>
        <a:bodyPr/>
        <a:lstStyle/>
        <a:p>
          <a:r>
            <a:rPr lang="en-US" dirty="0" err="1"/>
            <a:t>Obervastion</a:t>
          </a:r>
          <a:endParaRPr lang="en-US" dirty="0"/>
        </a:p>
      </dgm:t>
    </dgm:pt>
    <dgm:pt modelId="{F664BA43-1B81-496F-A04E-CE4B4A525697}" type="parTrans" cxnId="{ECE9152A-59A8-4A3A-9D34-DB38A074F636}">
      <dgm:prSet/>
      <dgm:spPr/>
      <dgm:t>
        <a:bodyPr/>
        <a:lstStyle/>
        <a:p>
          <a:endParaRPr lang="en-US"/>
        </a:p>
      </dgm:t>
    </dgm:pt>
    <dgm:pt modelId="{2D386477-EC66-449A-8D41-5F8A212C3D8E}" type="sibTrans" cxnId="{ECE9152A-59A8-4A3A-9D34-DB38A074F636}">
      <dgm:prSet/>
      <dgm:spPr/>
      <dgm:t>
        <a:bodyPr/>
        <a:lstStyle/>
        <a:p>
          <a:endParaRPr lang="en-US"/>
        </a:p>
      </dgm:t>
    </dgm:pt>
    <dgm:pt modelId="{68838C34-4D02-49F8-ADD7-BFA90D87B7EA}">
      <dgm:prSet phldrT="[Text]"/>
      <dgm:spPr/>
      <dgm:t>
        <a:bodyPr/>
        <a:lstStyle/>
        <a:p>
          <a:r>
            <a:rPr lang="en-US" dirty="0"/>
            <a:t>Higher discount showed higher sales </a:t>
          </a:r>
        </a:p>
      </dgm:t>
    </dgm:pt>
    <dgm:pt modelId="{F2AD00AD-6A23-4C89-A107-68EF5D1F0B94}" type="parTrans" cxnId="{4143D757-8617-4C89-8322-E3B29A1874AF}">
      <dgm:prSet/>
      <dgm:spPr/>
      <dgm:t>
        <a:bodyPr/>
        <a:lstStyle/>
        <a:p>
          <a:endParaRPr lang="en-US"/>
        </a:p>
      </dgm:t>
    </dgm:pt>
    <dgm:pt modelId="{FFC4FCE7-6F2F-4F91-A74A-7C4C32A81657}" type="sibTrans" cxnId="{4143D757-8617-4C89-8322-E3B29A1874AF}">
      <dgm:prSet/>
      <dgm:spPr/>
      <dgm:t>
        <a:bodyPr/>
        <a:lstStyle/>
        <a:p>
          <a:endParaRPr lang="en-US"/>
        </a:p>
      </dgm:t>
    </dgm:pt>
    <dgm:pt modelId="{3960CFF8-4383-4382-8D6D-F2A00F508E8D}" type="pres">
      <dgm:prSet presAssocID="{0E9DE493-19D7-4EC9-97C9-5F26233F1106}" presName="Name0" presStyleCnt="0">
        <dgm:presLayoutVars>
          <dgm:dir/>
          <dgm:animLvl val="lvl"/>
          <dgm:resizeHandles val="exact"/>
        </dgm:presLayoutVars>
      </dgm:prSet>
      <dgm:spPr/>
    </dgm:pt>
    <dgm:pt modelId="{366CFF54-5C8F-47F9-BFD8-D9AF3EADDA3E}" type="pres">
      <dgm:prSet presAssocID="{0E9DE493-19D7-4EC9-97C9-5F26233F1106}" presName="tSp" presStyleCnt="0"/>
      <dgm:spPr/>
    </dgm:pt>
    <dgm:pt modelId="{13688FBD-4079-41FE-A6A2-B5B0F293E6BF}" type="pres">
      <dgm:prSet presAssocID="{0E9DE493-19D7-4EC9-97C9-5F26233F1106}" presName="bSp" presStyleCnt="0"/>
      <dgm:spPr/>
    </dgm:pt>
    <dgm:pt modelId="{224851B6-C14D-49DE-883B-A13003DA4601}" type="pres">
      <dgm:prSet presAssocID="{0E9DE493-19D7-4EC9-97C9-5F26233F1106}" presName="process" presStyleCnt="0"/>
      <dgm:spPr/>
    </dgm:pt>
    <dgm:pt modelId="{1439717B-283C-48FF-AF62-1990F52B6512}" type="pres">
      <dgm:prSet presAssocID="{FB986F71-3126-4196-BD30-74AEDC39A1CA}" presName="composite1" presStyleCnt="0"/>
      <dgm:spPr/>
    </dgm:pt>
    <dgm:pt modelId="{BCCE6711-D1D8-4B2C-917E-41AB5A6114A8}" type="pres">
      <dgm:prSet presAssocID="{FB986F71-3126-4196-BD30-74AEDC39A1CA}" presName="dummyNode1" presStyleLbl="node1" presStyleIdx="0" presStyleCnt="3"/>
      <dgm:spPr/>
    </dgm:pt>
    <dgm:pt modelId="{96015622-8A46-45CF-A72A-2856B699B374}" type="pres">
      <dgm:prSet presAssocID="{FB986F71-3126-4196-BD30-74AEDC39A1CA}" presName="childNode1" presStyleLbl="bgAcc1" presStyleIdx="0" presStyleCnt="3" custLinFactNeighborX="-617" custLinFactNeighborY="-2910">
        <dgm:presLayoutVars>
          <dgm:bulletEnabled val="1"/>
        </dgm:presLayoutVars>
      </dgm:prSet>
      <dgm:spPr/>
    </dgm:pt>
    <dgm:pt modelId="{BFE859F2-A9E8-4F95-9161-8EC68F2D30C4}" type="pres">
      <dgm:prSet presAssocID="{FB986F71-3126-4196-BD30-74AEDC39A1CA}" presName="childNode1tx" presStyleLbl="bgAcc1" presStyleIdx="0" presStyleCnt="3">
        <dgm:presLayoutVars>
          <dgm:bulletEnabled val="1"/>
        </dgm:presLayoutVars>
      </dgm:prSet>
      <dgm:spPr/>
    </dgm:pt>
    <dgm:pt modelId="{E18C6CF4-EDEB-4539-A36D-E0355B626199}" type="pres">
      <dgm:prSet presAssocID="{FB986F71-3126-4196-BD30-74AEDC39A1CA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D9FCD5E9-9E94-4534-BAB4-3DB8EB44E7D0}" type="pres">
      <dgm:prSet presAssocID="{FB986F71-3126-4196-BD30-74AEDC39A1CA}" presName="connSite1" presStyleCnt="0"/>
      <dgm:spPr/>
    </dgm:pt>
    <dgm:pt modelId="{6A63D16E-EEE6-4267-97EA-5AD7D2BC4E84}" type="pres">
      <dgm:prSet presAssocID="{D0B150DF-3AA4-454C-8652-25880449C422}" presName="Name9" presStyleLbl="sibTrans2D1" presStyleIdx="0" presStyleCnt="2"/>
      <dgm:spPr/>
    </dgm:pt>
    <dgm:pt modelId="{59BAED1E-A4FE-4FA3-8716-57917AF47F38}" type="pres">
      <dgm:prSet presAssocID="{F6D27D1B-CDCB-481F-B8FA-AB31B2A119DE}" presName="composite2" presStyleCnt="0"/>
      <dgm:spPr/>
    </dgm:pt>
    <dgm:pt modelId="{5C833856-7FAF-4B27-932C-67C7D08339F2}" type="pres">
      <dgm:prSet presAssocID="{F6D27D1B-CDCB-481F-B8FA-AB31B2A119DE}" presName="dummyNode2" presStyleLbl="node1" presStyleIdx="0" presStyleCnt="3"/>
      <dgm:spPr/>
    </dgm:pt>
    <dgm:pt modelId="{E83793B4-2C5C-4D90-82FA-E5EE4745664D}" type="pres">
      <dgm:prSet presAssocID="{F6D27D1B-CDCB-481F-B8FA-AB31B2A119DE}" presName="childNode2" presStyleLbl="bgAcc1" presStyleIdx="1" presStyleCnt="3">
        <dgm:presLayoutVars>
          <dgm:bulletEnabled val="1"/>
        </dgm:presLayoutVars>
      </dgm:prSet>
      <dgm:spPr/>
    </dgm:pt>
    <dgm:pt modelId="{67FFE978-6FBE-4424-80BE-B9E4B4DD0695}" type="pres">
      <dgm:prSet presAssocID="{F6D27D1B-CDCB-481F-B8FA-AB31B2A119DE}" presName="childNode2tx" presStyleLbl="bgAcc1" presStyleIdx="1" presStyleCnt="3">
        <dgm:presLayoutVars>
          <dgm:bulletEnabled val="1"/>
        </dgm:presLayoutVars>
      </dgm:prSet>
      <dgm:spPr/>
    </dgm:pt>
    <dgm:pt modelId="{029D1FDE-4DD7-4FA5-8C70-0C747477B66C}" type="pres">
      <dgm:prSet presAssocID="{F6D27D1B-CDCB-481F-B8FA-AB31B2A119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C2556EF6-41FF-46C6-8829-911BFA533FFE}" type="pres">
      <dgm:prSet presAssocID="{F6D27D1B-CDCB-481F-B8FA-AB31B2A119DE}" presName="connSite2" presStyleCnt="0"/>
      <dgm:spPr/>
    </dgm:pt>
    <dgm:pt modelId="{DC2A0ADB-DCE3-4BF4-9952-0394865777AC}" type="pres">
      <dgm:prSet presAssocID="{7AEB6639-3258-49E8-8B1F-B4A9C61922BE}" presName="Name18" presStyleLbl="sibTrans2D1" presStyleIdx="1" presStyleCnt="2"/>
      <dgm:spPr/>
    </dgm:pt>
    <dgm:pt modelId="{A874A3A3-A340-4ABC-99B5-7529D4415335}" type="pres">
      <dgm:prSet presAssocID="{58828492-5CEF-4AFE-95CB-5D7E6A18158B}" presName="composite1" presStyleCnt="0"/>
      <dgm:spPr/>
    </dgm:pt>
    <dgm:pt modelId="{14032C0B-60AE-432B-A713-F993D1C4BA8F}" type="pres">
      <dgm:prSet presAssocID="{58828492-5CEF-4AFE-95CB-5D7E6A18158B}" presName="dummyNode1" presStyleLbl="node1" presStyleIdx="1" presStyleCnt="3"/>
      <dgm:spPr/>
    </dgm:pt>
    <dgm:pt modelId="{69C28D3B-E083-42DF-9EA0-916CA12125A9}" type="pres">
      <dgm:prSet presAssocID="{58828492-5CEF-4AFE-95CB-5D7E6A18158B}" presName="childNode1" presStyleLbl="bgAcc1" presStyleIdx="2" presStyleCnt="3" custLinFactNeighborX="7001" custLinFactNeighborY="-2910">
        <dgm:presLayoutVars>
          <dgm:bulletEnabled val="1"/>
        </dgm:presLayoutVars>
      </dgm:prSet>
      <dgm:spPr/>
    </dgm:pt>
    <dgm:pt modelId="{843715D2-C2C2-41EB-BDA3-21230FBA46DB}" type="pres">
      <dgm:prSet presAssocID="{58828492-5CEF-4AFE-95CB-5D7E6A18158B}" presName="childNode1tx" presStyleLbl="bgAcc1" presStyleIdx="2" presStyleCnt="3">
        <dgm:presLayoutVars>
          <dgm:bulletEnabled val="1"/>
        </dgm:presLayoutVars>
      </dgm:prSet>
      <dgm:spPr/>
    </dgm:pt>
    <dgm:pt modelId="{047F5837-10E2-4FFC-A492-DB8A19EF48CA}" type="pres">
      <dgm:prSet presAssocID="{58828492-5CEF-4AFE-95CB-5D7E6A18158B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7D6A154D-27BB-4CCE-9250-BCDD2CD5C383}" type="pres">
      <dgm:prSet presAssocID="{58828492-5CEF-4AFE-95CB-5D7E6A18158B}" presName="connSite1" presStyleCnt="0"/>
      <dgm:spPr/>
    </dgm:pt>
  </dgm:ptLst>
  <dgm:cxnLst>
    <dgm:cxn modelId="{1FE4D618-724E-4829-BED3-DAA3C651B769}" type="presOf" srcId="{0B00F5A8-A0EF-4111-9D86-004317B4F49E}" destId="{E83793B4-2C5C-4D90-82FA-E5EE4745664D}" srcOrd="0" destOrd="0" presId="urn:microsoft.com/office/officeart/2005/8/layout/hProcess4"/>
    <dgm:cxn modelId="{A08CE81F-A93E-429F-943D-3B3662A0C042}" type="presOf" srcId="{F6D27D1B-CDCB-481F-B8FA-AB31B2A119DE}" destId="{029D1FDE-4DD7-4FA5-8C70-0C747477B66C}" srcOrd="0" destOrd="0" presId="urn:microsoft.com/office/officeart/2005/8/layout/hProcess4"/>
    <dgm:cxn modelId="{ECE9152A-59A8-4A3A-9D34-DB38A074F636}" srcId="{0E9DE493-19D7-4EC9-97C9-5F26233F1106}" destId="{58828492-5CEF-4AFE-95CB-5D7E6A18158B}" srcOrd="2" destOrd="0" parTransId="{F664BA43-1B81-496F-A04E-CE4B4A525697}" sibTransId="{2D386477-EC66-449A-8D41-5F8A212C3D8E}"/>
    <dgm:cxn modelId="{2D5B3E3B-3EE5-4072-933E-27DF5400591C}" srcId="{FB986F71-3126-4196-BD30-74AEDC39A1CA}" destId="{AB2E8498-CC81-452F-A895-08F3845AA347}" srcOrd="0" destOrd="0" parTransId="{4C65E2C8-0CBB-4D8C-AD60-6B0105C62B84}" sibTransId="{9A1F3304-AA9E-4FBC-89BA-9095C80E47C9}"/>
    <dgm:cxn modelId="{241A4F42-3815-4A3A-A31B-C5E11FFB5E6D}" type="presOf" srcId="{FB986F71-3126-4196-BD30-74AEDC39A1CA}" destId="{E18C6CF4-EDEB-4539-A36D-E0355B626199}" srcOrd="0" destOrd="0" presId="urn:microsoft.com/office/officeart/2005/8/layout/hProcess4"/>
    <dgm:cxn modelId="{402F9D43-6A91-4B87-83A0-426BC9CD76A6}" type="presOf" srcId="{0B00F5A8-A0EF-4111-9D86-004317B4F49E}" destId="{67FFE978-6FBE-4424-80BE-B9E4B4DD0695}" srcOrd="1" destOrd="0" presId="urn:microsoft.com/office/officeart/2005/8/layout/hProcess4"/>
    <dgm:cxn modelId="{1423FC72-83C7-4510-8021-28EAEA493E68}" srcId="{0E9DE493-19D7-4EC9-97C9-5F26233F1106}" destId="{FB986F71-3126-4196-BD30-74AEDC39A1CA}" srcOrd="0" destOrd="0" parTransId="{9B3CE34A-9B3E-4D5F-94E0-DFBB94FF5A03}" sibTransId="{D0B150DF-3AA4-454C-8652-25880449C422}"/>
    <dgm:cxn modelId="{4143D757-8617-4C89-8322-E3B29A1874AF}" srcId="{58828492-5CEF-4AFE-95CB-5D7E6A18158B}" destId="{68838C34-4D02-49F8-ADD7-BFA90D87B7EA}" srcOrd="0" destOrd="0" parTransId="{F2AD00AD-6A23-4C89-A107-68EF5D1F0B94}" sibTransId="{FFC4FCE7-6F2F-4F91-A74A-7C4C32A81657}"/>
    <dgm:cxn modelId="{550EC38B-566A-4081-A7BE-0E49BE02764D}" type="presOf" srcId="{AB2E8498-CC81-452F-A895-08F3845AA347}" destId="{BFE859F2-A9E8-4F95-9161-8EC68F2D30C4}" srcOrd="1" destOrd="0" presId="urn:microsoft.com/office/officeart/2005/8/layout/hProcess4"/>
    <dgm:cxn modelId="{A63D53AC-541A-4D09-9620-8B1C8D7B91DE}" srcId="{0E9DE493-19D7-4EC9-97C9-5F26233F1106}" destId="{F6D27D1B-CDCB-481F-B8FA-AB31B2A119DE}" srcOrd="1" destOrd="0" parTransId="{8A7BF306-8E53-4B16-9E7E-A79AE3DF6BE2}" sibTransId="{7AEB6639-3258-49E8-8B1F-B4A9C61922BE}"/>
    <dgm:cxn modelId="{4E74EABF-20DE-46D5-9BE9-0F84CEAF66AB}" type="presOf" srcId="{D0B150DF-3AA4-454C-8652-25880449C422}" destId="{6A63D16E-EEE6-4267-97EA-5AD7D2BC4E84}" srcOrd="0" destOrd="0" presId="urn:microsoft.com/office/officeart/2005/8/layout/hProcess4"/>
    <dgm:cxn modelId="{95276BC3-D2A9-422F-9390-BED3FD8C7BB0}" type="presOf" srcId="{0E9DE493-19D7-4EC9-97C9-5F26233F1106}" destId="{3960CFF8-4383-4382-8D6D-F2A00F508E8D}" srcOrd="0" destOrd="0" presId="urn:microsoft.com/office/officeart/2005/8/layout/hProcess4"/>
    <dgm:cxn modelId="{90D5F6C6-4E25-4C59-9DF6-6E2B25A59F46}" type="presOf" srcId="{68838C34-4D02-49F8-ADD7-BFA90D87B7EA}" destId="{69C28D3B-E083-42DF-9EA0-916CA12125A9}" srcOrd="0" destOrd="0" presId="urn:microsoft.com/office/officeart/2005/8/layout/hProcess4"/>
    <dgm:cxn modelId="{A507C8D3-A0BB-44E4-82F7-15D18D34238D}" type="presOf" srcId="{68838C34-4D02-49F8-ADD7-BFA90D87B7EA}" destId="{843715D2-C2C2-41EB-BDA3-21230FBA46DB}" srcOrd="1" destOrd="0" presId="urn:microsoft.com/office/officeart/2005/8/layout/hProcess4"/>
    <dgm:cxn modelId="{FA45DADE-266F-4B82-B02F-D2732D8D9F51}" type="presOf" srcId="{58828492-5CEF-4AFE-95CB-5D7E6A18158B}" destId="{047F5837-10E2-4FFC-A492-DB8A19EF48CA}" srcOrd="0" destOrd="0" presId="urn:microsoft.com/office/officeart/2005/8/layout/hProcess4"/>
    <dgm:cxn modelId="{86F910E7-C9D0-48E5-A3A3-C70127E96FC1}" srcId="{F6D27D1B-CDCB-481F-B8FA-AB31B2A119DE}" destId="{0B00F5A8-A0EF-4111-9D86-004317B4F49E}" srcOrd="0" destOrd="0" parTransId="{EC916B99-8D26-4265-B7BE-BB461C68DA5C}" sibTransId="{CE48C676-980A-4BAC-A3C8-9ABC315DAE51}"/>
    <dgm:cxn modelId="{732F9AFA-01BF-4C18-A659-D951BF9FC05D}" type="presOf" srcId="{AB2E8498-CC81-452F-A895-08F3845AA347}" destId="{96015622-8A46-45CF-A72A-2856B699B374}" srcOrd="0" destOrd="0" presId="urn:microsoft.com/office/officeart/2005/8/layout/hProcess4"/>
    <dgm:cxn modelId="{E95209FE-82B0-40EF-AFE6-D8CCCCEA50E1}" type="presOf" srcId="{7AEB6639-3258-49E8-8B1F-B4A9C61922BE}" destId="{DC2A0ADB-DCE3-4BF4-9952-0394865777AC}" srcOrd="0" destOrd="0" presId="urn:microsoft.com/office/officeart/2005/8/layout/hProcess4"/>
    <dgm:cxn modelId="{89F19664-F574-44B4-924E-3D107B743F23}" type="presParOf" srcId="{3960CFF8-4383-4382-8D6D-F2A00F508E8D}" destId="{366CFF54-5C8F-47F9-BFD8-D9AF3EADDA3E}" srcOrd="0" destOrd="0" presId="urn:microsoft.com/office/officeart/2005/8/layout/hProcess4"/>
    <dgm:cxn modelId="{75C41B37-1CBE-4C45-8C4B-850855BD27C4}" type="presParOf" srcId="{3960CFF8-4383-4382-8D6D-F2A00F508E8D}" destId="{13688FBD-4079-41FE-A6A2-B5B0F293E6BF}" srcOrd="1" destOrd="0" presId="urn:microsoft.com/office/officeart/2005/8/layout/hProcess4"/>
    <dgm:cxn modelId="{3AA8FE4E-D0FB-4F4F-9F35-7B6B4E7D5E8D}" type="presParOf" srcId="{3960CFF8-4383-4382-8D6D-F2A00F508E8D}" destId="{224851B6-C14D-49DE-883B-A13003DA4601}" srcOrd="2" destOrd="0" presId="urn:microsoft.com/office/officeart/2005/8/layout/hProcess4"/>
    <dgm:cxn modelId="{A4DAABAE-FB49-4E79-80B0-1264A8E539FF}" type="presParOf" srcId="{224851B6-C14D-49DE-883B-A13003DA4601}" destId="{1439717B-283C-48FF-AF62-1990F52B6512}" srcOrd="0" destOrd="0" presId="urn:microsoft.com/office/officeart/2005/8/layout/hProcess4"/>
    <dgm:cxn modelId="{6FFC75D9-47EB-48FF-90CD-91F117AC22B7}" type="presParOf" srcId="{1439717B-283C-48FF-AF62-1990F52B6512}" destId="{BCCE6711-D1D8-4B2C-917E-41AB5A6114A8}" srcOrd="0" destOrd="0" presId="urn:microsoft.com/office/officeart/2005/8/layout/hProcess4"/>
    <dgm:cxn modelId="{FEE85E3F-72E5-4071-8EA1-3623F81173A1}" type="presParOf" srcId="{1439717B-283C-48FF-AF62-1990F52B6512}" destId="{96015622-8A46-45CF-A72A-2856B699B374}" srcOrd="1" destOrd="0" presId="urn:microsoft.com/office/officeart/2005/8/layout/hProcess4"/>
    <dgm:cxn modelId="{AC4982ED-AD83-45D0-AD2F-455F7901AF9F}" type="presParOf" srcId="{1439717B-283C-48FF-AF62-1990F52B6512}" destId="{BFE859F2-A9E8-4F95-9161-8EC68F2D30C4}" srcOrd="2" destOrd="0" presId="urn:microsoft.com/office/officeart/2005/8/layout/hProcess4"/>
    <dgm:cxn modelId="{565E0706-6737-49AB-A631-19EA6E16791C}" type="presParOf" srcId="{1439717B-283C-48FF-AF62-1990F52B6512}" destId="{E18C6CF4-EDEB-4539-A36D-E0355B626199}" srcOrd="3" destOrd="0" presId="urn:microsoft.com/office/officeart/2005/8/layout/hProcess4"/>
    <dgm:cxn modelId="{0F8395D2-489A-4650-9E19-52FEC57A410B}" type="presParOf" srcId="{1439717B-283C-48FF-AF62-1990F52B6512}" destId="{D9FCD5E9-9E94-4534-BAB4-3DB8EB44E7D0}" srcOrd="4" destOrd="0" presId="urn:microsoft.com/office/officeart/2005/8/layout/hProcess4"/>
    <dgm:cxn modelId="{9204B803-0CC8-4F9E-AC95-C709626A9F47}" type="presParOf" srcId="{224851B6-C14D-49DE-883B-A13003DA4601}" destId="{6A63D16E-EEE6-4267-97EA-5AD7D2BC4E84}" srcOrd="1" destOrd="0" presId="urn:microsoft.com/office/officeart/2005/8/layout/hProcess4"/>
    <dgm:cxn modelId="{DF63E90D-523A-4A3D-8E96-876C4878E690}" type="presParOf" srcId="{224851B6-C14D-49DE-883B-A13003DA4601}" destId="{59BAED1E-A4FE-4FA3-8716-57917AF47F38}" srcOrd="2" destOrd="0" presId="urn:microsoft.com/office/officeart/2005/8/layout/hProcess4"/>
    <dgm:cxn modelId="{ABC2BBAC-ABC6-4828-A656-FF0E45449B5D}" type="presParOf" srcId="{59BAED1E-A4FE-4FA3-8716-57917AF47F38}" destId="{5C833856-7FAF-4B27-932C-67C7D08339F2}" srcOrd="0" destOrd="0" presId="urn:microsoft.com/office/officeart/2005/8/layout/hProcess4"/>
    <dgm:cxn modelId="{57A8C77F-8539-4ED5-8B3E-AA69AEF39063}" type="presParOf" srcId="{59BAED1E-A4FE-4FA3-8716-57917AF47F38}" destId="{E83793B4-2C5C-4D90-82FA-E5EE4745664D}" srcOrd="1" destOrd="0" presId="urn:microsoft.com/office/officeart/2005/8/layout/hProcess4"/>
    <dgm:cxn modelId="{13C487BA-883D-4A71-9789-EB655F6279D7}" type="presParOf" srcId="{59BAED1E-A4FE-4FA3-8716-57917AF47F38}" destId="{67FFE978-6FBE-4424-80BE-B9E4B4DD0695}" srcOrd="2" destOrd="0" presId="urn:microsoft.com/office/officeart/2005/8/layout/hProcess4"/>
    <dgm:cxn modelId="{9DE711C0-DAD0-490A-8F9F-84EFF58B67F2}" type="presParOf" srcId="{59BAED1E-A4FE-4FA3-8716-57917AF47F38}" destId="{029D1FDE-4DD7-4FA5-8C70-0C747477B66C}" srcOrd="3" destOrd="0" presId="urn:microsoft.com/office/officeart/2005/8/layout/hProcess4"/>
    <dgm:cxn modelId="{7E60F800-B699-4C90-AE8B-FFA3C1DBAC2A}" type="presParOf" srcId="{59BAED1E-A4FE-4FA3-8716-57917AF47F38}" destId="{C2556EF6-41FF-46C6-8829-911BFA533FFE}" srcOrd="4" destOrd="0" presId="urn:microsoft.com/office/officeart/2005/8/layout/hProcess4"/>
    <dgm:cxn modelId="{15EEC923-9DD9-45F9-B1CE-E90ADC8BB3B2}" type="presParOf" srcId="{224851B6-C14D-49DE-883B-A13003DA4601}" destId="{DC2A0ADB-DCE3-4BF4-9952-0394865777AC}" srcOrd="3" destOrd="0" presId="urn:microsoft.com/office/officeart/2005/8/layout/hProcess4"/>
    <dgm:cxn modelId="{F83CC031-B411-4234-8023-6E45E782DC1B}" type="presParOf" srcId="{224851B6-C14D-49DE-883B-A13003DA4601}" destId="{A874A3A3-A340-4ABC-99B5-7529D4415335}" srcOrd="4" destOrd="0" presId="urn:microsoft.com/office/officeart/2005/8/layout/hProcess4"/>
    <dgm:cxn modelId="{7B362966-E9AB-40B9-8761-1F07E738ED93}" type="presParOf" srcId="{A874A3A3-A340-4ABC-99B5-7529D4415335}" destId="{14032C0B-60AE-432B-A713-F993D1C4BA8F}" srcOrd="0" destOrd="0" presId="urn:microsoft.com/office/officeart/2005/8/layout/hProcess4"/>
    <dgm:cxn modelId="{7577A14F-C73F-4E1A-8760-544ED1967544}" type="presParOf" srcId="{A874A3A3-A340-4ABC-99B5-7529D4415335}" destId="{69C28D3B-E083-42DF-9EA0-916CA12125A9}" srcOrd="1" destOrd="0" presId="urn:microsoft.com/office/officeart/2005/8/layout/hProcess4"/>
    <dgm:cxn modelId="{1637F8A1-F9FA-4AC7-AA80-AC52DBF6427F}" type="presParOf" srcId="{A874A3A3-A340-4ABC-99B5-7529D4415335}" destId="{843715D2-C2C2-41EB-BDA3-21230FBA46DB}" srcOrd="2" destOrd="0" presId="urn:microsoft.com/office/officeart/2005/8/layout/hProcess4"/>
    <dgm:cxn modelId="{C3A1CE6A-C0A2-460E-AEC5-91898FCAB7C6}" type="presParOf" srcId="{A874A3A3-A340-4ABC-99B5-7529D4415335}" destId="{047F5837-10E2-4FFC-A492-DB8A19EF48CA}" srcOrd="3" destOrd="0" presId="urn:microsoft.com/office/officeart/2005/8/layout/hProcess4"/>
    <dgm:cxn modelId="{B0B35EFC-EC0D-408D-96C0-AAE23E559E96}" type="presParOf" srcId="{A874A3A3-A340-4ABC-99B5-7529D4415335}" destId="{7D6A154D-27BB-4CCE-9250-BCDD2CD5C38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5622-8A46-45CF-A72A-2856B699B374}">
      <dsp:nvSpPr>
        <dsp:cNvPr id="0" name=""/>
        <dsp:cNvSpPr/>
      </dsp:nvSpPr>
      <dsp:spPr>
        <a:xfrm>
          <a:off x="162607" y="990601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Providing discount increases sales</a:t>
          </a:r>
        </a:p>
      </dsp:txBody>
      <dsp:txXfrm>
        <a:off x="209007" y="1037001"/>
        <a:ext cx="2351761" cy="1491398"/>
      </dsp:txXfrm>
    </dsp:sp>
    <dsp:sp modelId="{6A63D16E-EEE6-4267-97EA-5AD7D2BC4E84}">
      <dsp:nvSpPr>
        <dsp:cNvPr id="0" name=""/>
        <dsp:cNvSpPr/>
      </dsp:nvSpPr>
      <dsp:spPr>
        <a:xfrm>
          <a:off x="1531052" y="1456152"/>
          <a:ext cx="2804228" cy="2804228"/>
        </a:xfrm>
        <a:prstGeom prst="leftCircularArrow">
          <a:avLst>
            <a:gd name="adj1" fmla="val 3538"/>
            <a:gd name="adj2" fmla="val 439377"/>
            <a:gd name="adj3" fmla="val 2214888"/>
            <a:gd name="adj4" fmla="val 9024489"/>
            <a:gd name="adj5" fmla="val 4128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8C6CF4-EDEB-4539-A36D-E0355B626199}">
      <dsp:nvSpPr>
        <dsp:cNvPr id="0" name=""/>
        <dsp:cNvSpPr/>
      </dsp:nvSpPr>
      <dsp:spPr>
        <a:xfrm>
          <a:off x="720926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Hypothesis</a:t>
          </a:r>
        </a:p>
      </dsp:txBody>
      <dsp:txXfrm>
        <a:off x="746235" y="2658781"/>
        <a:ext cx="2122325" cy="813490"/>
      </dsp:txXfrm>
    </dsp:sp>
    <dsp:sp modelId="{E83793B4-2C5C-4D90-82FA-E5EE4745664D}">
      <dsp:nvSpPr>
        <dsp:cNvPr id="0" name=""/>
        <dsp:cNvSpPr/>
      </dsp:nvSpPr>
      <dsp:spPr>
        <a:xfrm>
          <a:off x="3366309" y="1049274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Discount and sales relationship  analyzed</a:t>
          </a:r>
        </a:p>
      </dsp:txBody>
      <dsp:txXfrm>
        <a:off x="3412709" y="1527728"/>
        <a:ext cx="2351761" cy="1491398"/>
      </dsp:txXfrm>
    </dsp:sp>
    <dsp:sp modelId="{DC2A0ADB-DCE3-4BF4-9952-0394865777AC}">
      <dsp:nvSpPr>
        <dsp:cNvPr id="0" name=""/>
        <dsp:cNvSpPr/>
      </dsp:nvSpPr>
      <dsp:spPr>
        <a:xfrm>
          <a:off x="4702757" y="-304151"/>
          <a:ext cx="3314138" cy="3314138"/>
        </a:xfrm>
        <a:prstGeom prst="circularArrow">
          <a:avLst>
            <a:gd name="adj1" fmla="val 2994"/>
            <a:gd name="adj2" fmla="val 367010"/>
            <a:gd name="adj3" fmla="val 19382628"/>
            <a:gd name="adj4" fmla="val 12500660"/>
            <a:gd name="adj5" fmla="val 3493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D1FDE-4DD7-4FA5-8C70-0C747477B66C}">
      <dsp:nvSpPr>
        <dsp:cNvPr id="0" name=""/>
        <dsp:cNvSpPr/>
      </dsp:nvSpPr>
      <dsp:spPr>
        <a:xfrm>
          <a:off x="3909545" y="617220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Analysis</a:t>
          </a:r>
        </a:p>
      </dsp:txBody>
      <dsp:txXfrm>
        <a:off x="3934854" y="642529"/>
        <a:ext cx="2122325" cy="813490"/>
      </dsp:txXfrm>
    </dsp:sp>
    <dsp:sp modelId="{69C28D3B-E083-42DF-9EA0-916CA12125A9}">
      <dsp:nvSpPr>
        <dsp:cNvPr id="0" name=""/>
        <dsp:cNvSpPr/>
      </dsp:nvSpPr>
      <dsp:spPr>
        <a:xfrm>
          <a:off x="6726072" y="990601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Higher discount showed higher sales </a:t>
          </a:r>
        </a:p>
      </dsp:txBody>
      <dsp:txXfrm>
        <a:off x="6772472" y="1037001"/>
        <a:ext cx="2351761" cy="1491398"/>
      </dsp:txXfrm>
    </dsp:sp>
    <dsp:sp modelId="{047F5837-10E2-4FFC-A492-DB8A19EF48CA}">
      <dsp:nvSpPr>
        <dsp:cNvPr id="0" name=""/>
        <dsp:cNvSpPr/>
      </dsp:nvSpPr>
      <dsp:spPr>
        <a:xfrm>
          <a:off x="7098165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Obervastion</a:t>
          </a:r>
          <a:endParaRPr lang="en-US" sz="3000" kern="1200" dirty="0"/>
        </a:p>
      </dsp:txBody>
      <dsp:txXfrm>
        <a:off x="7123474" y="2658781"/>
        <a:ext cx="2122325" cy="813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12-Mar-26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12-Mar-26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12-Mar-26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12-Mar-26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12-Mar-26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E-commerce Sales Data Analysis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Story Presentation</a:t>
            </a:r>
            <a:br>
              <a:rPr lang="en-US" dirty="0"/>
            </a:br>
            <a:r>
              <a:rPr lang="en-US" dirty="0"/>
              <a:t>Internship Project</a:t>
            </a:r>
          </a:p>
          <a:p>
            <a:r>
              <a:rPr lang="en-US" b="1" dirty="0"/>
              <a:t>SHREYA SRIVASTAVA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6A4B5A-B14C-AC7C-8DAE-FA46A25EF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413" y="2259529"/>
            <a:ext cx="6808274" cy="340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sales performance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 factors affecting sales and profit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patterns in discount and sales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Providing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8D12-719E-F3A2-D732-3076FAAB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FD9E-E729-212B-A2ED-50FD306B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52400"/>
            <a:ext cx="9144001" cy="1219200"/>
          </a:xfrm>
        </p:spPr>
        <p:txBody>
          <a:bodyPr/>
          <a:lstStyle/>
          <a:p>
            <a:pPr algn="ctr"/>
            <a:r>
              <a:rPr lang="en-US" dirty="0"/>
              <a:t>Dataset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445FA-F472-E751-77A2-D63BE0579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58" y="1600200"/>
            <a:ext cx="7595230" cy="411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6A3D74-F3DC-B960-4E05-3BC1D65852E8}"/>
              </a:ext>
            </a:extLst>
          </p:cNvPr>
          <p:cNvSpPr txBox="1"/>
          <p:nvPr/>
        </p:nvSpPr>
        <p:spPr>
          <a:xfrm>
            <a:off x="271461" y="1600200"/>
            <a:ext cx="4136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Dataset: E-</a:t>
            </a:r>
            <a:r>
              <a:rPr lang="en-US" sz="2000" b="1" dirty="0" err="1"/>
              <a:t>commrece</a:t>
            </a:r>
            <a:r>
              <a:rPr lang="en-US" sz="2000" b="1" dirty="0"/>
              <a:t> Sales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8C93DF-9CA4-7149-0997-D69C627F4D08}"/>
              </a:ext>
            </a:extLst>
          </p:cNvPr>
          <p:cNvSpPr txBox="1"/>
          <p:nvPr/>
        </p:nvSpPr>
        <p:spPr>
          <a:xfrm>
            <a:off x="230185" y="2000310"/>
            <a:ext cx="19504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Columns: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Order_dates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Product_nam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Customernam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Sub_category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Segment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B4C892-9700-E327-46B0-9C9CC369665B}"/>
              </a:ext>
            </a:extLst>
          </p:cNvPr>
          <p:cNvSpPr txBox="1"/>
          <p:nvPr/>
        </p:nvSpPr>
        <p:spPr>
          <a:xfrm>
            <a:off x="163713" y="5943600"/>
            <a:ext cx="11794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dataset includes thousands of transactions, representing the company's business activities across multiple regions and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8572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585C-92B1-5D45-63F9-505D0C0BE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D510-635D-8A1A-053D-65096A4F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Customer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1DC63-BDCC-A5AD-A340-0D657B03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12" y="2133600"/>
            <a:ext cx="3200400" cy="2102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E7D51-1542-0F02-BA10-A94D5429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412" y="2133600"/>
            <a:ext cx="3048000" cy="2102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37CF21-428C-3661-BE7B-323A67352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812" y="4616967"/>
            <a:ext cx="6705600" cy="21269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E4249-1313-ADC0-7145-C7240637611E}"/>
              </a:ext>
            </a:extLst>
          </p:cNvPr>
          <p:cNvSpPr txBox="1"/>
          <p:nvPr/>
        </p:nvSpPr>
        <p:spPr>
          <a:xfrm>
            <a:off x="227012" y="2133600"/>
            <a:ext cx="4419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Customers belong to different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Home office segments contribute more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Sophia Singh was on top  total sales by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Priya Sharma was top on Total profit by customer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9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013" y="1905000"/>
            <a:ext cx="4038600" cy="762000"/>
          </a:xfrm>
        </p:spPr>
        <p:txBody>
          <a:bodyPr/>
          <a:lstStyle/>
          <a:p>
            <a:pPr algn="ctr"/>
            <a: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  <a:t>Category analysis helps identify top products</a:t>
            </a:r>
          </a:p>
          <a:p>
            <a:pPr algn="ctr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28666" y="1826654"/>
            <a:ext cx="4727450" cy="381000"/>
          </a:xfrm>
        </p:spPr>
        <p:txBody>
          <a:bodyPr/>
          <a:lstStyle/>
          <a:p>
            <a:r>
              <a:rPr lang="en-US" sz="1600" dirty="0"/>
              <a:t>Product name and there total sales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7238DD-CD82-FD5B-00C3-3147C72FD6D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856412" y="2344465"/>
            <a:ext cx="4727450" cy="2169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50BC89-7BF1-1B5A-735E-4C4EBE1B4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57" y="4513536"/>
            <a:ext cx="7543757" cy="234446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BB3171A-20C7-0BC3-FF08-69FDA849F4B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27013" y="2967335"/>
            <a:ext cx="53226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Electronics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categories are more popular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there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 is 3773216.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95F2-6B09-E5FB-9884-5C57A2F83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012" y="2647168"/>
            <a:ext cx="8524791" cy="411480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3DB67E-C956-5B80-84CA-5183DD99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012" y="2647168"/>
            <a:ext cx="8523203" cy="4114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55071E-0239-75E7-C874-6F5301512162}"/>
              </a:ext>
            </a:extLst>
          </p:cNvPr>
          <p:cNvSpPr txBox="1"/>
          <p:nvPr/>
        </p:nvSpPr>
        <p:spPr>
          <a:xfrm>
            <a:off x="303212" y="2514600"/>
            <a:ext cx="289560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Customers are distributed across regions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Some regions show higher customer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Hypothesis Testing</a:t>
            </a:r>
          </a:p>
        </p:txBody>
      </p:sp>
      <p:graphicFrame>
        <p:nvGraphicFramePr>
          <p:cNvPr id="3" name="Content Placeholder 2" descr="Alternating Flow diagram showing 3 groups arranged from left to right with a title and bullet points in each group and a curved arrow showing the flow from one group to the nex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886724"/>
              </p:ext>
            </p:extLst>
          </p:nvPr>
        </p:nvGraphicFramePr>
        <p:xfrm>
          <a:off x="1522413" y="1905000"/>
          <a:ext cx="9448799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8212" y="304800"/>
            <a:ext cx="8692399" cy="2286000"/>
          </a:xfrm>
        </p:spPr>
        <p:txBody>
          <a:bodyPr/>
          <a:lstStyle/>
          <a:p>
            <a:pPr algn="ctr"/>
            <a:r>
              <a:rPr lang="en-US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0CD382-603B-4D1A-A20B-906A35A44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2" y="2743200"/>
            <a:ext cx="5689378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customer segments purchase more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regions generate higher orders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categories differ in performance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products drive revenue</a:t>
            </a: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13" y="1143000"/>
            <a:ext cx="3596607" cy="26670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413" y="3810000"/>
            <a:ext cx="4267200" cy="2819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Customer and product analysis helps understand business performance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Data insights support better decision making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Businesses can focus on high performing products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81912-7907-58A9-76E4-6F8A40E79CD4}"/>
              </a:ext>
            </a:extLst>
          </p:cNvPr>
          <p:cNvSpPr txBox="1"/>
          <p:nvPr/>
        </p:nvSpPr>
        <p:spPr>
          <a:xfrm>
            <a:off x="3579812" y="609600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969EE-BE4E-2A3E-9085-0A7B42B10DCE}"/>
              </a:ext>
            </a:extLst>
          </p:cNvPr>
          <p:cNvSpPr txBox="1"/>
          <p:nvPr/>
        </p:nvSpPr>
        <p:spPr>
          <a:xfrm>
            <a:off x="1065212" y="1981200"/>
            <a:ext cx="10515600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Thank you for reviewing this data analysis presentation.</a:t>
            </a:r>
            <a:br>
              <a:rPr lang="en-US" sz="2000" dirty="0"/>
            </a:br>
            <a:r>
              <a:rPr lang="en-US" sz="2000" dirty="0"/>
              <a:t>This project analyzed customer and product data to identify patterns and insights that can support better business decisions.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 appreciate your time and feedback on this analysis.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SHREYA SRIVASTAVA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Data Analysis Internship Project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75</TotalTime>
  <Words>259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Digital Blue Tunnel 16x9</vt:lpstr>
      <vt:lpstr>E-commerce Sales Data Analysis</vt:lpstr>
      <vt:lpstr>Problem Statement</vt:lpstr>
      <vt:lpstr>Dataset Overview</vt:lpstr>
      <vt:lpstr>Customer Analysis</vt:lpstr>
      <vt:lpstr>PRODUCT ANALYSIS</vt:lpstr>
      <vt:lpstr>REGIONAL ANALYSIS</vt:lpstr>
      <vt:lpstr>Hypothesis Testing</vt:lpstr>
      <vt:lpstr>Key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srivastava</dc:creator>
  <cp:lastModifiedBy>Shreya srivastava</cp:lastModifiedBy>
  <cp:revision>3</cp:revision>
  <dcterms:created xsi:type="dcterms:W3CDTF">2026-03-08T16:07:15Z</dcterms:created>
  <dcterms:modified xsi:type="dcterms:W3CDTF">2026-03-12T04:07:15Z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